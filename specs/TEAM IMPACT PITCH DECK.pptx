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4310"/>
            <a:ext cx="10566400" cy="4420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4310"/>
            <a:ext cx="10566400" cy="4420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429"/>
            <a:ext cx="12415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01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73200"/>
            <a:ext cx="981075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Make creator marketing accountable.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2767955" y="4624040"/>
            <a:ext cx="79873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Know what your creators deliver, not just what they post.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5302250"/>
            <a:ext cx="10566400" cy="742950"/>
          </a:xfrm>
          <a:prstGeom prst="roundRect">
            <a:avLst>
              <a:gd name="adj" fmla="val 27350"/>
            </a:avLst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1117600" y="5530850"/>
            <a:ext cx="238258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EF0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Campaign agreements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00189" y="5530850"/>
            <a:ext cx="257308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Measurable outcomes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73279" y="5530850"/>
            <a:ext cx="272605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Transparent rewards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812800"/>
            <a:ext cx="16916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147598" y="812800"/>
            <a:ext cx="128240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IMPACT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39571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555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 marketing is hard to account for.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2800" y="1954510"/>
            <a:ext cx="3420517" cy="3343970"/>
          </a:xfrm>
          <a:prstGeom prst="roundRect">
            <a:avLst>
              <a:gd name="adj" fmla="val 6836"/>
            </a:avLst>
          </a:prstGeom>
          <a:solidFill>
            <a:srgbClr val="EEF03A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259310"/>
            <a:ext cx="2895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7600" y="2969419"/>
            <a:ext cx="289524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Results are unclear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17600" y="3871119"/>
            <a:ext cx="2895244" cy="1147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Businesses struggle to connect creator activity to registrations, leads and sales.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85717" y="1954510"/>
            <a:ext cx="3420566" cy="3343970"/>
          </a:xfrm>
          <a:prstGeom prst="roundRect">
            <a:avLst>
              <a:gd name="adj" fmla="val 6836"/>
            </a:avLst>
          </a:prstGeom>
          <a:solidFill>
            <a:srgbClr val="E6E6E2"/>
          </a:solidFill>
          <a:ln/>
        </p:spPr>
      </p:sp>
      <p:sp>
        <p:nvSpPr>
          <p:cNvPr id="9" name="Text 7"/>
          <p:cNvSpPr/>
          <p:nvPr/>
        </p:nvSpPr>
        <p:spPr>
          <a:xfrm>
            <a:off x="4690517" y="2259310"/>
            <a:ext cx="2895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90517" y="3250059"/>
            <a:ext cx="289529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 is fragmented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90517" y="4151759"/>
            <a:ext cx="2895295" cy="86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Briefs, content, reporting and payment records live across disconnected tools.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8683" y="1954510"/>
            <a:ext cx="3420517" cy="3343970"/>
          </a:xfrm>
          <a:prstGeom prst="roundRect">
            <a:avLst>
              <a:gd name="adj" fmla="val 6836"/>
            </a:avLst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8263483" y="2259310"/>
            <a:ext cx="2895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3483" y="3250059"/>
            <a:ext cx="289524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 is hard to verify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63483" y="4151759"/>
            <a:ext cx="2895244" cy="86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shared record of agreed work, attributable results and rewards.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2800" y="5552480"/>
            <a:ext cx="1088339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Businesses struggle to justify spend. Creators struggle to prove value.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2744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solution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39571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555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connected workflow for creator campaigns.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2800" y="1954510"/>
            <a:ext cx="2527300" cy="1867545"/>
          </a:xfrm>
          <a:prstGeom prst="roundRect">
            <a:avLst>
              <a:gd name="adj" fmla="val 10881"/>
            </a:avLst>
          </a:prstGeom>
          <a:solidFill>
            <a:srgbClr val="EEF03A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132310"/>
            <a:ext cx="22368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2783235"/>
            <a:ext cx="2236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0600" y="3199755"/>
            <a:ext cx="223685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Objectives, deliverables, attribution, reward rules.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92500" y="1954510"/>
            <a:ext cx="2527300" cy="1867545"/>
          </a:xfrm>
          <a:prstGeom prst="roundRect">
            <a:avLst>
              <a:gd name="adj" fmla="val 10881"/>
            </a:avLst>
          </a:prstGeom>
          <a:solidFill>
            <a:srgbClr val="E6E6E2"/>
          </a:solidFill>
          <a:ln/>
        </p:spPr>
      </p:sp>
      <p:sp>
        <p:nvSpPr>
          <p:cNvPr id="9" name="Text 7"/>
          <p:cNvSpPr/>
          <p:nvPr/>
        </p:nvSpPr>
        <p:spPr>
          <a:xfrm>
            <a:off x="3670300" y="2132310"/>
            <a:ext cx="22368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70300" y="2783235"/>
            <a:ext cx="2236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70300" y="3199755"/>
            <a:ext cx="223685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Invite creators, share briefs, collect work.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954510"/>
            <a:ext cx="2527300" cy="1867545"/>
          </a:xfrm>
          <a:prstGeom prst="roundRect">
            <a:avLst>
              <a:gd name="adj" fmla="val 10881"/>
            </a:avLst>
          </a:prstGeom>
          <a:solidFill>
            <a:srgbClr val="E6E6E2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000" y="2132310"/>
            <a:ext cx="22368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0000" y="2783235"/>
            <a:ext cx="2236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50000" y="3199755"/>
            <a:ext cx="223685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Record clicks and conversion events.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51900" y="1954510"/>
            <a:ext cx="2527300" cy="1867545"/>
          </a:xfrm>
          <a:prstGeom prst="roundRect">
            <a:avLst>
              <a:gd name="adj" fmla="val 10881"/>
            </a:avLst>
          </a:prstGeom>
          <a:solidFill>
            <a:srgbClr val="E6E6E2"/>
          </a:solidFill>
          <a:ln/>
        </p:spPr>
      </p:sp>
      <p:sp>
        <p:nvSpPr>
          <p:cNvPr id="17" name="Text 15"/>
          <p:cNvSpPr/>
          <p:nvPr/>
        </p:nvSpPr>
        <p:spPr>
          <a:xfrm>
            <a:off x="9029700" y="2132310"/>
            <a:ext cx="22368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29700" y="2783235"/>
            <a:ext cx="2236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029700" y="3199755"/>
            <a:ext cx="223685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 evidence against campaign rules.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3974455"/>
            <a:ext cx="2527300" cy="1867545"/>
          </a:xfrm>
          <a:prstGeom prst="roundRect">
            <a:avLst>
              <a:gd name="adj" fmla="val 10881"/>
            </a:avLst>
          </a:prstGeom>
          <a:solidFill>
            <a:srgbClr val="E6E6E2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4152255"/>
            <a:ext cx="22368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0600" y="4803180"/>
            <a:ext cx="2236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Reward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90600" y="5219700"/>
            <a:ext cx="223685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Calculate fees and performance rewards.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92500" y="3974455"/>
            <a:ext cx="2527300" cy="1867545"/>
          </a:xfrm>
          <a:prstGeom prst="roundRect">
            <a:avLst>
              <a:gd name="adj" fmla="val 10881"/>
            </a:avLst>
          </a:prstGeom>
          <a:solidFill>
            <a:srgbClr val="E6E6E2"/>
          </a:solidFill>
          <a:ln/>
        </p:spPr>
      </p:sp>
      <p:sp>
        <p:nvSpPr>
          <p:cNvPr id="25" name="Text 23"/>
          <p:cNvSpPr/>
          <p:nvPr/>
        </p:nvSpPr>
        <p:spPr>
          <a:xfrm>
            <a:off x="3670300" y="4152255"/>
            <a:ext cx="22368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70300" y="4803180"/>
            <a:ext cx="2236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Settle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670300" y="5219700"/>
            <a:ext cx="223685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Record approvals and payment status.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3974455"/>
            <a:ext cx="2527300" cy="1867545"/>
          </a:xfrm>
          <a:prstGeom prst="roundRect">
            <a:avLst>
              <a:gd name="adj" fmla="val 10881"/>
            </a:avLst>
          </a:prstGeom>
          <a:solidFill>
            <a:srgbClr val="E6E6E2"/>
          </a:solidFill>
          <a:ln/>
        </p:spPr>
      </p:sp>
      <p:sp>
        <p:nvSpPr>
          <p:cNvPr id="29" name="Text 27"/>
          <p:cNvSpPr/>
          <p:nvPr/>
        </p:nvSpPr>
        <p:spPr>
          <a:xfrm>
            <a:off x="6350000" y="4152255"/>
            <a:ext cx="22368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50000" y="4580930"/>
            <a:ext cx="223685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Learn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350000" y="4997450"/>
            <a:ext cx="2236851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outcomes, improve the next campaign.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851900" y="3974455"/>
            <a:ext cx="2527300" cy="1867545"/>
          </a:xfrm>
          <a:prstGeom prst="roundRect">
            <a:avLst>
              <a:gd name="adj" fmla="val 10881"/>
            </a:avLst>
          </a:prstGeom>
          <a:solidFill>
            <a:srgbClr val="111111"/>
          </a:solidFill>
          <a:ln/>
        </p:spPr>
      </p:sp>
      <p:sp>
        <p:nvSpPr>
          <p:cNvPr id="33" name="Text 31"/>
          <p:cNvSpPr/>
          <p:nvPr/>
        </p:nvSpPr>
        <p:spPr>
          <a:xfrm>
            <a:off x="9029700" y="4152255"/>
            <a:ext cx="22368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↺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29700" y="5049540"/>
            <a:ext cx="2236851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step feeds the next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80"/>
            <a:ext cx="12713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 size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39571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555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large category, an accountable layer to build.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1954510"/>
            <a:ext cx="1665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$32.55B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478187" y="2160885"/>
            <a:ext cx="85855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Estimated global influencer-marketing market, 2025 (context, not our revenue)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2741910"/>
            <a:ext cx="10566400" cy="601018"/>
          </a:xfrm>
          <a:prstGeom prst="roundRect">
            <a:avLst>
              <a:gd name="adj" fmla="val 33809"/>
            </a:avLst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117600" y="2909044"/>
            <a:ext cx="20929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49600" y="2750294"/>
            <a:ext cx="4578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$180M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594600" y="2798564"/>
            <a:ext cx="3584194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Modeled annual software opportunity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419128"/>
            <a:ext cx="10566400" cy="601067"/>
          </a:xfrm>
          <a:prstGeom prst="roundRect">
            <a:avLst>
              <a:gd name="adj" fmla="val 33807"/>
            </a:avLst>
          </a:prstGeom>
          <a:solidFill>
            <a:srgbClr val="E6E6E2"/>
          </a:solidFill>
          <a:ln/>
        </p:spPr>
      </p:sp>
      <p:sp>
        <p:nvSpPr>
          <p:cNvPr id="11" name="Text 9"/>
          <p:cNvSpPr/>
          <p:nvPr/>
        </p:nvSpPr>
        <p:spPr>
          <a:xfrm>
            <a:off x="1117600" y="3586311"/>
            <a:ext cx="20929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49600" y="3427561"/>
            <a:ext cx="4578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$18M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7594600" y="3597721"/>
            <a:ext cx="35841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Modeled reachable segment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" y="4096395"/>
            <a:ext cx="10566400" cy="601018"/>
          </a:xfrm>
          <a:prstGeom prst="roundRect">
            <a:avLst>
              <a:gd name="adj" fmla="val 33809"/>
            </a:avLst>
          </a:prstGeom>
          <a:solidFill>
            <a:srgbClr val="EEF0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" y="4263529"/>
            <a:ext cx="20929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SOM · Global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49600" y="4104779"/>
            <a:ext cx="4578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$360K–$540K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7594600" y="4153049"/>
            <a:ext cx="3584194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ARR in 3 years from 200–300 paying accounts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" y="4773613"/>
            <a:ext cx="10566400" cy="601067"/>
          </a:xfrm>
          <a:prstGeom prst="roundRect">
            <a:avLst>
              <a:gd name="adj" fmla="val 33807"/>
            </a:avLst>
          </a:prstGeom>
          <a:solidFill>
            <a:srgbClr val="E6E6E2"/>
          </a:solidFill>
          <a:ln/>
        </p:spPr>
      </p:sp>
      <p:sp>
        <p:nvSpPr>
          <p:cNvPr id="19" name="Text 17"/>
          <p:cNvSpPr/>
          <p:nvPr/>
        </p:nvSpPr>
        <p:spPr>
          <a:xfrm>
            <a:off x="1117600" y="4940796"/>
            <a:ext cx="20929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SOM · Nigeria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49600" y="4782046"/>
            <a:ext cx="4578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$30K–$60K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7594600" y="4830316"/>
            <a:ext cx="3584194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ARR from 25–50 accounts, first market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Bottom-up planning scenarios, not published totals. Pricing and account counts need validation. Source: Statista.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12780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and tech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39571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555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operating system for accountable campaigns.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1954510"/>
            <a:ext cx="3223667" cy="616942"/>
          </a:xfrm>
          <a:prstGeom prst="roundRect">
            <a:avLst>
              <a:gd name="adj" fmla="val 24702"/>
            </a:avLst>
          </a:prstGeom>
          <a:solidFill>
            <a:srgbClr val="E6E6E2"/>
          </a:solidFill>
          <a:ln/>
        </p:spPr>
        <p:txBody>
          <a:bodyPr wrap="square" lIns="133164" tIns="56964" rIns="133164" bIns="56964" rtlCol="0" anchor="ctr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Campaign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25367" y="1954510"/>
            <a:ext cx="3223716" cy="616942"/>
          </a:xfrm>
          <a:prstGeom prst="roundRect">
            <a:avLst>
              <a:gd name="adj" fmla="val 24702"/>
            </a:avLst>
          </a:prstGeom>
          <a:solidFill>
            <a:srgbClr val="E6E6E2"/>
          </a:solidFill>
          <a:ln/>
        </p:spPr>
        <p:txBody>
          <a:bodyPr wrap="square" lIns="133164" tIns="56964" rIns="133164" bIns="56964" rtlCol="0" anchor="ctr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 invitations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660352"/>
            <a:ext cx="3223667" cy="616992"/>
          </a:xfrm>
          <a:prstGeom prst="roundRect">
            <a:avLst>
              <a:gd name="adj" fmla="val 24700"/>
            </a:avLst>
          </a:prstGeom>
          <a:solidFill>
            <a:srgbClr val="E6E6E2"/>
          </a:solidFill>
          <a:ln/>
        </p:spPr>
        <p:txBody>
          <a:bodyPr wrap="square" lIns="133164" tIns="56964" rIns="133164" bIns="56964" rtlCol="0" anchor="ctr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Briefs and content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25367" y="2660352"/>
            <a:ext cx="3223716" cy="616992"/>
          </a:xfrm>
          <a:prstGeom prst="roundRect">
            <a:avLst>
              <a:gd name="adj" fmla="val 24700"/>
            </a:avLst>
          </a:prstGeom>
          <a:solidFill>
            <a:srgbClr val="E6E6E2"/>
          </a:solidFill>
          <a:ln/>
        </p:spPr>
        <p:txBody>
          <a:bodyPr wrap="square" lIns="133164" tIns="56964" rIns="133164" bIns="56964" rtlCol="0" anchor="ctr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Tracking links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366244"/>
            <a:ext cx="3223667" cy="616992"/>
          </a:xfrm>
          <a:prstGeom prst="roundRect">
            <a:avLst>
              <a:gd name="adj" fmla="val 24700"/>
            </a:avLst>
          </a:prstGeom>
          <a:solidFill>
            <a:srgbClr val="E6E6E2"/>
          </a:solidFill>
          <a:ln/>
        </p:spPr>
        <p:txBody>
          <a:bodyPr wrap="square" lIns="133164" tIns="56964" rIns="133164" bIns="56964" rtlCol="0" anchor="ctr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Conversion events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25367" y="3366244"/>
            <a:ext cx="3223716" cy="616992"/>
          </a:xfrm>
          <a:prstGeom prst="roundRect">
            <a:avLst>
              <a:gd name="adj" fmla="val 24700"/>
            </a:avLst>
          </a:prstGeom>
          <a:solidFill>
            <a:srgbClr val="E6E6E2"/>
          </a:solidFill>
          <a:ln/>
        </p:spPr>
        <p:txBody>
          <a:bodyPr wrap="square" lIns="133164" tIns="56964" rIns="133164" bIns="56964" rtlCol="0" anchor="ctr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Evidence verification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4072136"/>
            <a:ext cx="3223667" cy="840482"/>
          </a:xfrm>
          <a:prstGeom prst="roundRect">
            <a:avLst>
              <a:gd name="adj" fmla="val 18132"/>
            </a:avLst>
          </a:prstGeom>
          <a:solidFill>
            <a:srgbClr val="E6E6E2"/>
          </a:solidFill>
          <a:ln/>
        </p:spPr>
        <p:txBody>
          <a:bodyPr wrap="square" lIns="133164" tIns="56964" rIns="47122" bIns="56964" rtlCol="0" anchor="ctr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Fees and performance rewards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25367" y="4072136"/>
            <a:ext cx="3223716" cy="840482"/>
          </a:xfrm>
          <a:prstGeom prst="roundRect">
            <a:avLst>
              <a:gd name="adj" fmla="val 18132"/>
            </a:avLst>
          </a:prstGeom>
          <a:solidFill>
            <a:srgbClr val="E6E6E2"/>
          </a:solidFill>
          <a:ln/>
        </p:spPr>
        <p:txBody>
          <a:bodyPr wrap="square" lIns="133164" tIns="56964" rIns="133164" bIns="56964" rtlCol="0" anchor="ctr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Settlement records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5001518"/>
            <a:ext cx="3223667" cy="840482"/>
          </a:xfrm>
          <a:prstGeom prst="roundRect">
            <a:avLst>
              <a:gd name="adj" fmla="val 18132"/>
            </a:avLst>
          </a:prstGeom>
          <a:solidFill>
            <a:srgbClr val="E6E6E2"/>
          </a:solidFill>
          <a:ln/>
        </p:spPr>
        <p:txBody>
          <a:bodyPr wrap="square" lIns="133164" tIns="56964" rIns="47122" bIns="56964" rtlCol="0" anchor="ctr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and creator analytics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25367" y="5001518"/>
            <a:ext cx="3223716" cy="840482"/>
          </a:xfrm>
          <a:prstGeom prst="roundRect">
            <a:avLst>
              <a:gd name="adj" fmla="val 18132"/>
            </a:avLst>
          </a:prstGeom>
          <a:solidFill>
            <a:srgbClr val="E6E6E2"/>
          </a:solidFill>
          <a:ln/>
        </p:spPr>
        <p:txBody>
          <a:bodyPr wrap="square" lIns="133164" tIns="56964" rIns="47120" bIns="56964" rtlCol="0" anchor="ctr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Agency workspaces, API, webhooks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01483" y="1954510"/>
            <a:ext cx="3877717" cy="3887490"/>
          </a:xfrm>
          <a:prstGeom prst="roundRect">
            <a:avLst>
              <a:gd name="adj" fmla="val 5895"/>
            </a:avLst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7806283" y="2259310"/>
            <a:ext cx="33661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EEF0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Stack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806283" y="2808188"/>
            <a:ext cx="336616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Next.js + TypeScript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806283" y="3293517"/>
            <a:ext cx="336616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FastAPI + Python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06283" y="3778895"/>
            <a:ext cx="336616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PostgreSQL, Redis, workers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06283" y="4264273"/>
            <a:ext cx="336616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 + webhooks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806283" y="4749602"/>
            <a:ext cx="336616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logs, access controls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06283" y="5234980"/>
            <a:ext cx="336616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Payments: provider TBD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2758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model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39571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555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revenue streams, one customer focus.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2800" y="1954510"/>
            <a:ext cx="5207000" cy="3343970"/>
          </a:xfrm>
          <a:prstGeom prst="roundRect">
            <a:avLst>
              <a:gd name="adj" fmla="val 6836"/>
            </a:avLst>
          </a:prstGeom>
          <a:solidFill>
            <a:srgbClr val="EEF03A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259310"/>
            <a:ext cx="4735322" cy="597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15"/>
              </a:lnSpc>
              <a:buNone/>
            </a:pPr>
            <a:r>
              <a:rPr lang="en-US" sz="4515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4515" dirty="0"/>
          </a:p>
        </p:txBody>
      </p:sp>
      <p:sp>
        <p:nvSpPr>
          <p:cNvPr id="6" name="Text 4"/>
          <p:cNvSpPr/>
          <p:nvPr/>
        </p:nvSpPr>
        <p:spPr>
          <a:xfrm>
            <a:off x="1117600" y="2983409"/>
            <a:ext cx="4902200" cy="823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18"/>
              </a:lnSpc>
              <a:buNone/>
            </a:pPr>
            <a:r>
              <a:rPr lang="en-US" sz="316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subscriptions</a:t>
            </a:r>
            <a:endParaRPr lang="en-US" sz="3160" dirty="0"/>
          </a:p>
        </p:txBody>
      </p:sp>
      <p:sp>
        <p:nvSpPr>
          <p:cNvPr id="7" name="Text 5"/>
          <p:cNvSpPr/>
          <p:nvPr/>
        </p:nvSpPr>
        <p:spPr>
          <a:xfrm>
            <a:off x="1117600" y="3882678"/>
            <a:ext cx="4735322" cy="1136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86"/>
              </a:lnSpc>
              <a:buNone/>
            </a:pPr>
            <a:r>
              <a:rPr lang="en-US" sz="1682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Recurring plans for businesses managing campaigns, tracking results and handling rewards. Brands pay a monthly or annual plan and run everything in one place.</a:t>
            </a:r>
            <a:endParaRPr lang="en-US" sz="1682" dirty="0"/>
          </a:p>
        </p:txBody>
      </p:sp>
      <p:sp>
        <p:nvSpPr>
          <p:cNvPr id="8" name="Shape 6"/>
          <p:cNvSpPr/>
          <p:nvPr/>
        </p:nvSpPr>
        <p:spPr>
          <a:xfrm>
            <a:off x="6172200" y="1954510"/>
            <a:ext cx="5207000" cy="3343970"/>
          </a:xfrm>
          <a:prstGeom prst="roundRect">
            <a:avLst>
              <a:gd name="adj" fmla="val 6836"/>
            </a:avLst>
          </a:prstGeom>
          <a:solidFill>
            <a:srgbClr val="E6E6E2"/>
          </a:solidFill>
          <a:ln/>
        </p:spPr>
      </p:sp>
      <p:sp>
        <p:nvSpPr>
          <p:cNvPr id="9" name="Text 7"/>
          <p:cNvSpPr/>
          <p:nvPr/>
        </p:nvSpPr>
        <p:spPr>
          <a:xfrm>
            <a:off x="6477000" y="2259310"/>
            <a:ext cx="47353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77000" y="3276749"/>
            <a:ext cx="473532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Agency plans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77000" y="3805039"/>
            <a:ext cx="4735322" cy="1214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Paid workspaces for agencies running campaigns across multiple clients. Agencies report results to many client brands from one account.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552480"/>
            <a:ext cx="1088339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Creators join campaigns and see their results and reward status free.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2836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Go-to-market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39571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555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 businesses already spending on creators.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2800" y="1954510"/>
            <a:ext cx="3420517" cy="3374430"/>
          </a:xfrm>
          <a:prstGeom prst="roundRect">
            <a:avLst>
              <a:gd name="adj" fmla="val 6774"/>
            </a:avLst>
          </a:prstGeom>
          <a:solidFill>
            <a:srgbClr val="EEF03A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259310"/>
            <a:ext cx="289524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7600" y="2792710"/>
            <a:ext cx="2895244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 20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117600" y="3401020"/>
            <a:ext cx="2895244" cy="1428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 target brands, sign design partners and run closely supported campaigns with creators they already know.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85717" y="1954510"/>
            <a:ext cx="3420566" cy="3374430"/>
          </a:xfrm>
          <a:prstGeom prst="roundRect">
            <a:avLst>
              <a:gd name="adj" fmla="val 6774"/>
            </a:avLst>
          </a:prstGeom>
          <a:solidFill>
            <a:srgbClr val="E6E6E2"/>
          </a:solidFill>
          <a:ln/>
        </p:spPr>
      </p:sp>
      <p:sp>
        <p:nvSpPr>
          <p:cNvPr id="9" name="Text 7"/>
          <p:cNvSpPr/>
          <p:nvPr/>
        </p:nvSpPr>
        <p:spPr>
          <a:xfrm>
            <a:off x="4690517" y="2259310"/>
            <a:ext cx="289529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90517" y="2792710"/>
            <a:ext cx="2895295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 100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90517" y="3401020"/>
            <a:ext cx="2895295" cy="1147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Pilots become paid accounts. Publish case studies and grow through referrals.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8683" y="1954510"/>
            <a:ext cx="3420517" cy="3374430"/>
          </a:xfrm>
          <a:prstGeom prst="roundRect">
            <a:avLst>
              <a:gd name="adj" fmla="val 6774"/>
            </a:avLst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8263483" y="2259310"/>
            <a:ext cx="289524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63483" y="2792710"/>
            <a:ext cx="2895244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 500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263483" y="3401020"/>
            <a:ext cx="2895244" cy="1147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 through agencies, repeatable onboarding and the integrations customers ask for.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2800" y="558294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Growth loop: sign up → bring creators → run campaigns → see value → refer.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2620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39571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555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wedge is the campaign accountability record.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2800" y="2289125"/>
            <a:ext cx="10566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54510"/>
            <a:ext cx="22237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73400" y="1954510"/>
            <a:ext cx="37578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Stated strength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01173" y="1954510"/>
            <a:ext cx="450936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edge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653754"/>
            <a:ext cx="132135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AdMinting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73400" y="2690564"/>
            <a:ext cx="36691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 tracking, creator scoring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42559" y="2552650"/>
            <a:ext cx="4636641" cy="504428"/>
          </a:xfrm>
          <a:prstGeom prst="roundRect">
            <a:avLst>
              <a:gd name="adj" fmla="val 30212"/>
            </a:avLst>
          </a:prstGeom>
          <a:solidFill>
            <a:srgbClr val="EEF03A"/>
          </a:solidFill>
          <a:ln/>
        </p:spPr>
        <p:txBody>
          <a:bodyPr wrap="square" lIns="133164" tIns="0" rIns="133164" bIns="0" rtlCol="0" anchor="ctr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Terms, evidence and rewards in one record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3221682"/>
            <a:ext cx="76533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73400" y="3258493"/>
            <a:ext cx="36691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African creator discovery, analytics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42559" y="3120579"/>
            <a:ext cx="4636641" cy="504478"/>
          </a:xfrm>
          <a:prstGeom prst="roundRect">
            <a:avLst>
              <a:gd name="adj" fmla="val 30209"/>
            </a:avLst>
          </a:prstGeom>
          <a:solidFill>
            <a:srgbClr val="EEF03A"/>
          </a:solidFill>
          <a:ln/>
        </p:spPr>
        <p:txBody>
          <a:bodyPr wrap="square" lIns="133164" tIns="0" rIns="133164" bIns="0" rtlCol="0" anchor="ctr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Brands bringing their own creators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3789660"/>
            <a:ext cx="60448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Beza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73400" y="3826470"/>
            <a:ext cx="30231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Discovery, tracking, escrow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42559" y="3688556"/>
            <a:ext cx="4636641" cy="504428"/>
          </a:xfrm>
          <a:prstGeom prst="roundRect">
            <a:avLst>
              <a:gd name="adj" fmla="val 30212"/>
            </a:avLst>
          </a:prstGeom>
          <a:solidFill>
            <a:srgbClr val="EEF03A"/>
          </a:solidFill>
          <a:ln/>
        </p:spPr>
        <p:txBody>
          <a:bodyPr wrap="square" lIns="133164" tIns="0" rIns="133164" bIns="0" rtlCol="0" anchor="ctr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Rules-based, auditable reward logic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4357588"/>
            <a:ext cx="100476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Modash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073400" y="4280098"/>
            <a:ext cx="367458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Discovery, content tracking, sales attribution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42559" y="4256484"/>
            <a:ext cx="4636641" cy="504478"/>
          </a:xfrm>
          <a:prstGeom prst="roundRect">
            <a:avLst>
              <a:gd name="adj" fmla="val 30209"/>
            </a:avLst>
          </a:prstGeom>
          <a:solidFill>
            <a:srgbClr val="EEF03A"/>
          </a:solidFill>
          <a:ln/>
        </p:spPr>
        <p:txBody>
          <a:bodyPr wrap="square" lIns="133164" tIns="0" rIns="133164" bIns="0" rtlCol="0" anchor="ctr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Shared commercial record, API-led events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4925566"/>
            <a:ext cx="22606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Sheets / agencies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073400" y="4962376"/>
            <a:ext cx="31560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Familiar, managed execution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42559" y="4824462"/>
            <a:ext cx="4636641" cy="504478"/>
          </a:xfrm>
          <a:prstGeom prst="roundRect">
            <a:avLst>
              <a:gd name="adj" fmla="val 30209"/>
            </a:avLst>
          </a:prstGeom>
          <a:solidFill>
            <a:srgbClr val="EEF03A"/>
          </a:solidFill>
          <a:ln/>
        </p:spPr>
        <p:txBody>
          <a:bodyPr wrap="square" lIns="133164" tIns="0" rIns="133164" bIns="0" rtlCol="0" anchor="ctr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Less reconciliation, one reward status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2800" y="558294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Terms → work → evidence → reward → settlement: one auditable chain.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1276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39571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555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Validate the problem before scaling the product.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2800" y="2880370"/>
            <a:ext cx="2527300" cy="2476500"/>
          </a:xfrm>
          <a:prstGeom prst="roundRect">
            <a:avLst>
              <a:gd name="adj" fmla="val 9231"/>
            </a:avLst>
          </a:prstGeom>
          <a:solidFill>
            <a:srgbClr val="EEF03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3134370"/>
            <a:ext cx="207987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66800" y="3864620"/>
            <a:ext cx="207987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66800" y="4340870"/>
            <a:ext cx="207987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20+ interviews on workflows and willingness to pay.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92500" y="2499370"/>
            <a:ext cx="2527300" cy="2857500"/>
          </a:xfrm>
          <a:prstGeom prst="roundRect">
            <a:avLst>
              <a:gd name="adj" fmla="val 9045"/>
            </a:avLst>
          </a:prstGeom>
          <a:solidFill>
            <a:srgbClr val="E6E6E2"/>
          </a:solidFill>
          <a:ln/>
        </p:spPr>
      </p:sp>
      <p:sp>
        <p:nvSpPr>
          <p:cNvPr id="9" name="Text 7"/>
          <p:cNvSpPr/>
          <p:nvPr/>
        </p:nvSpPr>
        <p:spPr>
          <a:xfrm>
            <a:off x="3746500" y="2753370"/>
            <a:ext cx="207987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46500" y="3864620"/>
            <a:ext cx="207987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46500" y="4340870"/>
            <a:ext cx="207987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3–5 design partners, at least 3 live campaigns.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2118370"/>
            <a:ext cx="2527300" cy="3238500"/>
          </a:xfrm>
          <a:prstGeom prst="roundRect">
            <a:avLst>
              <a:gd name="adj" fmla="val 9045"/>
            </a:avLst>
          </a:prstGeom>
          <a:solidFill>
            <a:srgbClr val="E6E6E2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200" y="2372370"/>
            <a:ext cx="207987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After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26200" y="4118620"/>
            <a:ext cx="207987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26200" y="4594870"/>
            <a:ext cx="20798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Pilots become paying businesses.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51900" y="1686570"/>
            <a:ext cx="2527300" cy="3670300"/>
          </a:xfrm>
          <a:prstGeom prst="roundRect">
            <a:avLst>
              <a:gd name="adj" fmla="val 9045"/>
            </a:avLst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9105900" y="1940570"/>
            <a:ext cx="207987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05900" y="3864620"/>
            <a:ext cx="207987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Retain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05900" y="4340870"/>
            <a:ext cx="207987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Repeat campaigns and continued payment.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561087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Targets, not results yet.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12836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12415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10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12800"/>
            <a:ext cx="10889933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team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1395710"/>
            <a:ext cx="108899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555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Built to ship the product and win the customer.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1955800"/>
            <a:ext cx="2527300" cy="3892550"/>
          </a:xfrm>
          <a:prstGeom prst="roundRect">
            <a:avLst>
              <a:gd name="adj" fmla="val 9045"/>
            </a:avLst>
          </a:prstGeom>
          <a:solidFill>
            <a:srgbClr val="EEF03A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3543399"/>
            <a:ext cx="20275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Lead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2200" y="3909120"/>
            <a:ext cx="2027555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Okafor Benedict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2200" y="5020370"/>
            <a:ext cx="2027555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Blockchain Developer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92500" y="1955800"/>
            <a:ext cx="2527300" cy="3892550"/>
          </a:xfrm>
          <a:prstGeom prst="roundRect">
            <a:avLst>
              <a:gd name="adj" fmla="val 9045"/>
            </a:avLst>
          </a:prstGeom>
          <a:solidFill>
            <a:srgbClr val="E6E6E2"/>
          </a:solidFill>
          <a:ln/>
        </p:spPr>
      </p:sp>
      <p:sp>
        <p:nvSpPr>
          <p:cNvPr id="10" name="Text 8"/>
          <p:cNvSpPr/>
          <p:nvPr/>
        </p:nvSpPr>
        <p:spPr>
          <a:xfrm>
            <a:off x="3771900" y="3543399"/>
            <a:ext cx="20275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Commercial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71900" y="3909120"/>
            <a:ext cx="2164906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Maxwell-Ugiagbe Excel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71900" y="5020370"/>
            <a:ext cx="2027555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Software Engineer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2200" y="1955800"/>
            <a:ext cx="2679601" cy="3892550"/>
          </a:xfrm>
          <a:prstGeom prst="roundRect">
            <a:avLst>
              <a:gd name="adj" fmla="val 8531"/>
            </a:avLst>
          </a:prstGeom>
          <a:solidFill>
            <a:srgbClr val="E6E6E2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3817689"/>
            <a:ext cx="218442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Engineering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51600" y="4183410"/>
            <a:ext cx="2400364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Ekeugo Ebubechukwu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51600" y="5294660"/>
            <a:ext cx="218442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Engineer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002812" y="1955800"/>
            <a:ext cx="2527300" cy="3892550"/>
          </a:xfrm>
          <a:prstGeom prst="roundRect">
            <a:avLst>
              <a:gd name="adj" fmla="val 9045"/>
            </a:avLst>
          </a:prstGeom>
          <a:solidFill>
            <a:srgbClr val="E6E6E2"/>
          </a:solidFill>
          <a:ln/>
        </p:spPr>
      </p:sp>
      <p:sp>
        <p:nvSpPr>
          <p:cNvPr id="18" name="Text 16"/>
          <p:cNvSpPr/>
          <p:nvPr/>
        </p:nvSpPr>
        <p:spPr>
          <a:xfrm>
            <a:off x="9282212" y="3817689"/>
            <a:ext cx="20275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Adviser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82212" y="4183410"/>
            <a:ext cx="2027555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Ezekiel Success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282212" y="52946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Analyst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Financials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39571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555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Annual recurring revenue targets.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4288830"/>
            <a:ext cx="256387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$10K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4834930"/>
            <a:ext cx="2489200" cy="9525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" y="5019080"/>
            <a:ext cx="2563876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 15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05200" y="4104680"/>
            <a:ext cx="256387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$30K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505200" y="4650780"/>
            <a:ext cx="2489200" cy="2794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3505200" y="5019080"/>
            <a:ext cx="2563876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197600" y="3349030"/>
            <a:ext cx="256387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$110K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197600" y="3895130"/>
            <a:ext cx="2489200" cy="1035050"/>
          </a:xfrm>
          <a:prstGeom prst="roundRect">
            <a:avLst>
              <a:gd name="adj" fmla="val 14724"/>
            </a:avLst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6197600" y="5019080"/>
            <a:ext cx="2563876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890000" y="1844080"/>
            <a:ext cx="256387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$270K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8890000" y="2390180"/>
            <a:ext cx="2489200" cy="2540000"/>
          </a:xfrm>
          <a:prstGeom prst="roundRect">
            <a:avLst>
              <a:gd name="adj" fmla="val 6122"/>
            </a:avLst>
          </a:prstGeom>
          <a:solidFill>
            <a:srgbClr val="EEF03A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0" y="5019080"/>
            <a:ext cx="2563876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4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12800" y="561087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Illustrative targets, to be validated.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2012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ask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39571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555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Capital to prove demand and build repeatable revenue.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195451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Raise: $150,000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2800" y="2543770"/>
            <a:ext cx="3420517" cy="2785170"/>
          </a:xfrm>
          <a:prstGeom prst="roundRect">
            <a:avLst>
              <a:gd name="adj" fmla="val 8208"/>
            </a:avLst>
          </a:prstGeom>
          <a:solidFill>
            <a:srgbClr val="EEF03A"/>
          </a:solidFill>
          <a:ln/>
        </p:spPr>
      </p:sp>
      <p:sp>
        <p:nvSpPr>
          <p:cNvPr id="6" name="Text 4"/>
          <p:cNvSpPr/>
          <p:nvPr/>
        </p:nvSpPr>
        <p:spPr>
          <a:xfrm>
            <a:off x="1117600" y="2848570"/>
            <a:ext cx="289524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17600" y="3961209"/>
            <a:ext cx="2895244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Engineering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17600" y="4462859"/>
            <a:ext cx="289524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Workflow, tracking, verification, rewards.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85717" y="2543770"/>
            <a:ext cx="3420566" cy="2785170"/>
          </a:xfrm>
          <a:prstGeom prst="roundRect">
            <a:avLst>
              <a:gd name="adj" fmla="val 8208"/>
            </a:avLst>
          </a:prstGeom>
          <a:solidFill>
            <a:srgbClr val="E6E6E2"/>
          </a:solidFill>
          <a:ln/>
        </p:spPr>
      </p:sp>
      <p:sp>
        <p:nvSpPr>
          <p:cNvPr id="10" name="Text 8"/>
          <p:cNvSpPr/>
          <p:nvPr/>
        </p:nvSpPr>
        <p:spPr>
          <a:xfrm>
            <a:off x="4690517" y="2848570"/>
            <a:ext cx="2895295" cy="620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10"/>
              </a:lnSpc>
              <a:buNone/>
            </a:pPr>
            <a:r>
              <a:rPr lang="en-US" sz="471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35%</a:t>
            </a:r>
            <a:endParaRPr lang="en-US" sz="4710" dirty="0"/>
          </a:p>
        </p:txBody>
      </p:sp>
      <p:sp>
        <p:nvSpPr>
          <p:cNvPr id="11" name="Text 9"/>
          <p:cNvSpPr/>
          <p:nvPr/>
        </p:nvSpPr>
        <p:spPr>
          <a:xfrm>
            <a:off x="4690517" y="3596035"/>
            <a:ext cx="2895295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1"/>
              </a:lnSpc>
              <a:buNone/>
            </a:pPr>
            <a:r>
              <a:rPr lang="en-US" sz="2934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Marketing and GTM</a:t>
            </a:r>
            <a:endParaRPr lang="en-US" sz="2934" dirty="0"/>
          </a:p>
        </p:txBody>
      </p:sp>
      <p:sp>
        <p:nvSpPr>
          <p:cNvPr id="12" name="Text 10"/>
          <p:cNvSpPr/>
          <p:nvPr/>
        </p:nvSpPr>
        <p:spPr>
          <a:xfrm>
            <a:off x="4690517" y="4477246"/>
            <a:ext cx="2895295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2"/>
              </a:lnSpc>
              <a:buNone/>
            </a:pPr>
            <a:r>
              <a:rPr lang="en-US" sz="1663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Acquisition, partners, case studies.</a:t>
            </a:r>
            <a:endParaRPr lang="en-US" sz="1663" dirty="0"/>
          </a:p>
        </p:txBody>
      </p:sp>
      <p:sp>
        <p:nvSpPr>
          <p:cNvPr id="13" name="Shape 11"/>
          <p:cNvSpPr/>
          <p:nvPr/>
        </p:nvSpPr>
        <p:spPr>
          <a:xfrm>
            <a:off x="7958683" y="2543770"/>
            <a:ext cx="3420517" cy="2785170"/>
          </a:xfrm>
          <a:prstGeom prst="roundRect">
            <a:avLst>
              <a:gd name="adj" fmla="val 8208"/>
            </a:avLst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8263483" y="2848570"/>
            <a:ext cx="289524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263483" y="3961209"/>
            <a:ext cx="2895244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63483" y="4462859"/>
            <a:ext cx="289524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6F6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Support, compliance, provider setup.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2800" y="558294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Buys: live campaigns, paying customers, repeatable onboarding, proof of retention.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12342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CreatorPay ·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orPay Pitch Deck">
  <a:themeElements>
    <a:clrScheme name="CreatorPay Pitch Deck">
      <a:dk1>
        <a:srgbClr val="111111"/>
      </a:dk1>
      <a:lt1>
        <a:srgbClr val="F6F6F3"/>
      </a:lt1>
      <a:dk2>
        <a:srgbClr val="4A4A4A"/>
      </a:dk2>
      <a:lt2>
        <a:srgbClr val="DFDFDC"/>
      </a:lt2>
      <a:accent1>
        <a:srgbClr val="EEF03A"/>
      </a:accent1>
      <a:accent2>
        <a:srgbClr val="6B6B66"/>
      </a:accent2>
      <a:accent3>
        <a:srgbClr val="55554F"/>
      </a:accent3>
      <a:accent4>
        <a:srgbClr val="9AA0A6"/>
      </a:accent4>
      <a:accent5>
        <a:srgbClr val="6D6D6B"/>
      </a:accent5>
      <a:accent6>
        <a:srgbClr val="8F8F8D"/>
      </a:accent6>
      <a:hlink>
        <a:srgbClr val="0563C1"/>
      </a:hlink>
      <a:folHlink>
        <a:srgbClr val="954F72"/>
      </a:folHlink>
    </a:clrScheme>
    <a:fontScheme name="CreatorPay Pitch Deck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CreatorPay Pitch Deck</dc:title>
  <dc:subject/>
  <dc:creator/>
  <cp:lastModifiedBy/>
  <cp:revision>1</cp:revision>
  <dcterms:created xsi:type="dcterms:W3CDTF">2026-10-15T10:58:55Z</dcterms:created>
  <dcterms:modified xsi:type="dcterms:W3CDTF">2026-10-15T10:58:55Z</dcterms:modified>
</cp:coreProperties>
</file>